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rchivo Black" panose="020B0604020202020204" charset="0"/>
      <p:regular r:id="rId13"/>
    </p:embeddedFont>
    <p:embeddedFont>
      <p:font typeface="Canva Sans" panose="020B0604020202020204" charset="0"/>
      <p:regular r:id="rId14"/>
    </p:embeddedFont>
    <p:embeddedFont>
      <p:font typeface="Garet" panose="020B0604020202020204" charset="0"/>
      <p:regular r:id="rId15"/>
    </p:embeddedFont>
    <p:embeddedFont>
      <p:font typeface="Garet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5379298" y="8311463"/>
            <a:ext cx="1880002" cy="946837"/>
          </a:xfrm>
          <a:custGeom>
            <a:avLst/>
            <a:gdLst/>
            <a:ahLst/>
            <a:cxnLst/>
            <a:rect l="l" t="t" r="r" b="b"/>
            <a:pathLst>
              <a:path w="1880002" h="946837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88643" y="690583"/>
            <a:ext cx="797433" cy="707541"/>
          </a:xfrm>
          <a:custGeom>
            <a:avLst/>
            <a:gdLst/>
            <a:ahLst/>
            <a:cxnLst/>
            <a:rect l="l" t="t" r="r" b="b"/>
            <a:pathLst>
              <a:path w="797433" h="707541">
                <a:moveTo>
                  <a:pt x="0" y="0"/>
                </a:moveTo>
                <a:lnTo>
                  <a:pt x="797433" y="0"/>
                </a:lnTo>
                <a:lnTo>
                  <a:pt x="797433" y="707541"/>
                </a:lnTo>
                <a:lnTo>
                  <a:pt x="0" y="7075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28384" y="8784590"/>
            <a:ext cx="3366096" cy="236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9"/>
              </a:lnSpc>
              <a:spcBef>
                <a:spcPct val="0"/>
              </a:spcBef>
            </a:pPr>
            <a:r>
              <a:rPr lang="en-US" sz="1599" b="1" dirty="0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PRESENTED BY: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11432" y="8784589"/>
            <a:ext cx="3366096" cy="236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9"/>
              </a:lnSpc>
              <a:spcBef>
                <a:spcPct val="0"/>
              </a:spcBef>
            </a:pPr>
            <a:r>
              <a:rPr lang="en-US" sz="1599" dirty="0" err="1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Yogen</a:t>
            </a:r>
            <a:r>
              <a:rPr lang="en-US" sz="1599" dirty="0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 Rathod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8384" y="4958816"/>
            <a:ext cx="964433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 Statistical Analysis of California Elementary Schools using R &amp; JASP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8384" y="2559688"/>
            <a:ext cx="15653611" cy="2737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037"/>
              </a:lnSpc>
              <a:spcBef>
                <a:spcPct val="0"/>
              </a:spcBef>
            </a:pPr>
            <a:r>
              <a:rPr lang="en-US" sz="9022" u="none" spc="-71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PREDICTORS OF ACADEMIC EXCELLENCE</a:t>
            </a:r>
          </a:p>
          <a:p>
            <a:pPr marL="0" lvl="0" indent="0" algn="just">
              <a:lnSpc>
                <a:spcPts val="6638"/>
              </a:lnSpc>
              <a:spcBef>
                <a:spcPct val="0"/>
              </a:spcBef>
            </a:pPr>
            <a:endParaRPr lang="en-US" sz="9022" u="none" spc="-712">
              <a:solidFill>
                <a:srgbClr val="00000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-978922" y="1862046"/>
            <a:ext cx="9125543" cy="7167700"/>
          </a:xfrm>
          <a:custGeom>
            <a:avLst/>
            <a:gdLst/>
            <a:ahLst/>
            <a:cxnLst/>
            <a:rect l="l" t="t" r="r" b="b"/>
            <a:pathLst>
              <a:path w="9125543" h="7167700">
                <a:moveTo>
                  <a:pt x="0" y="0"/>
                </a:moveTo>
                <a:lnTo>
                  <a:pt x="9125544" y="0"/>
                </a:lnTo>
                <a:lnTo>
                  <a:pt x="9125544" y="7167699"/>
                </a:lnTo>
                <a:lnTo>
                  <a:pt x="0" y="71676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36238" y="1457640"/>
            <a:ext cx="6531462" cy="2985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808"/>
              </a:lnSpc>
            </a:pPr>
            <a:r>
              <a:rPr lang="en-US" sz="5808" spc="-45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Executive Summary &amp; Objectives</a:t>
            </a:r>
          </a:p>
          <a:p>
            <a:pPr marL="0" lvl="0" indent="0" algn="just">
              <a:lnSpc>
                <a:spcPts val="5808"/>
              </a:lnSpc>
              <a:spcBef>
                <a:spcPct val="0"/>
              </a:spcBef>
            </a:pPr>
            <a:endParaRPr lang="en-US" sz="5808" spc="-458">
              <a:solidFill>
                <a:srgbClr val="FFFFFF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535364" y="1305240"/>
            <a:ext cx="10347451" cy="2462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Project Objective</a:t>
            </a:r>
          </a:p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To identify the key socioeconomic and institutional drivers of academic performance (API Scores) across 400 California schools.</a:t>
            </a:r>
          </a:p>
          <a:p>
            <a:pPr algn="l">
              <a:lnSpc>
                <a:spcPts val="3919"/>
              </a:lnSpc>
            </a:pPr>
            <a:endParaRPr lang="en-US" sz="2799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554124" y="4610100"/>
            <a:ext cx="10347451" cy="2734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Primary Tools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 Studio: Advanced modeling, custom ggplot2 visualizations, and automated scripts.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JASP: Rapid hypothesis testing, descriptive profiling, and high-fidelity reporting.</a:t>
            </a:r>
          </a:p>
          <a:p>
            <a:pPr algn="l">
              <a:lnSpc>
                <a:spcPts val="3640"/>
              </a:lnSpc>
            </a:pPr>
            <a:endParaRPr lang="en-US" sz="26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763903" y="7507117"/>
            <a:ext cx="10524097" cy="136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Why not Excel? While Excel is good for data entry, R and JASP provide rigorous statistical testing (p-values, residuals) and handle complex multi-variable modeling more efficiently.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1F9F21-1D1B-5268-8353-53F9D6D09D0F}"/>
              </a:ext>
            </a:extLst>
          </p:cNvPr>
          <p:cNvSpPr txBox="1"/>
          <p:nvPr/>
        </p:nvSpPr>
        <p:spPr>
          <a:xfrm>
            <a:off x="7535364" y="3743917"/>
            <a:ext cx="48664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DATA SET : elemapi2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159023" y="2289067"/>
            <a:ext cx="9684042" cy="5834635"/>
          </a:xfrm>
          <a:custGeom>
            <a:avLst/>
            <a:gdLst/>
            <a:ahLst/>
            <a:cxnLst/>
            <a:rect l="l" t="t" r="r" b="b"/>
            <a:pathLst>
              <a:path w="9684042" h="5834635">
                <a:moveTo>
                  <a:pt x="0" y="0"/>
                </a:moveTo>
                <a:lnTo>
                  <a:pt x="9684042" y="0"/>
                </a:lnTo>
                <a:lnTo>
                  <a:pt x="9684042" y="5834635"/>
                </a:lnTo>
                <a:lnTo>
                  <a:pt x="0" y="58346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0" y="1477298"/>
            <a:ext cx="8009341" cy="4168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endParaRPr/>
          </a:p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This scatterplot compares Free Meal Percentage (meals) with API Score (api00).</a:t>
            </a:r>
          </a:p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downward trend shows a strong negative relationship between poverty and academic performance.</a:t>
            </a:r>
          </a:p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Correlation = approximately −0.90, indicating a very strong inverse relationship.</a:t>
            </a:r>
          </a:p>
          <a:p>
            <a:pPr algn="l">
              <a:lnSpc>
                <a:spcPts val="3359"/>
              </a:lnSpc>
            </a:pPr>
            <a:endParaRPr lang="en-US" sz="23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359"/>
              </a:lnSpc>
            </a:pPr>
            <a:endParaRPr lang="en-US" sz="23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03/10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0" y="326528"/>
            <a:ext cx="17259300" cy="52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EDA: The Impact of Poverty (R Studio)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7293" y="5607338"/>
            <a:ext cx="7632048" cy="1934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Executive Insight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As poverty levels increase, academic performance declines significantly. This suggests that socioeconomic factors play a major role in the academic achievement gap.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 rot="-10800000">
            <a:off x="13407259" y="-2652486"/>
            <a:ext cx="2611028" cy="411480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290915" y="2543974"/>
            <a:ext cx="9475296" cy="5708866"/>
          </a:xfrm>
          <a:custGeom>
            <a:avLst/>
            <a:gdLst/>
            <a:ahLst/>
            <a:cxnLst/>
            <a:rect l="l" t="t" r="r" b="b"/>
            <a:pathLst>
              <a:path w="9475296" h="5708866">
                <a:moveTo>
                  <a:pt x="0" y="0"/>
                </a:moveTo>
                <a:lnTo>
                  <a:pt x="9475296" y="0"/>
                </a:lnTo>
                <a:lnTo>
                  <a:pt x="9475296" y="5708866"/>
                </a:lnTo>
                <a:lnTo>
                  <a:pt x="0" y="57088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548585" y="443020"/>
            <a:ext cx="12145653" cy="585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08"/>
              </a:lnSpc>
              <a:spcBef>
                <a:spcPct val="0"/>
              </a:spcBef>
            </a:pPr>
            <a:r>
              <a:rPr lang="en-US" sz="4308" spc="-34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EDA: Performance Across Poverty Categories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382445" y="981075"/>
            <a:ext cx="287685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04/10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585" y="1923748"/>
            <a:ext cx="6850974" cy="5068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2212" lvl="1" indent="-221106" algn="l">
              <a:lnSpc>
                <a:spcPts val="2867"/>
              </a:lnSpc>
              <a:buFont typeface="Arial"/>
              <a:buChar char="•"/>
            </a:pPr>
            <a:r>
              <a:rPr lang="en-US" sz="2048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Schools were grouped into three poverty categories using mealcat.</a:t>
            </a:r>
          </a:p>
          <a:p>
            <a:pPr marL="442212" lvl="1" indent="-221106" algn="l">
              <a:lnSpc>
                <a:spcPts val="2867"/>
              </a:lnSpc>
              <a:buFont typeface="Arial"/>
              <a:buChar char="•"/>
            </a:pPr>
            <a:r>
              <a:rPr lang="en-US" sz="2048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Low-poverty schools (Category 0) show the highest median API scores.</a:t>
            </a:r>
          </a:p>
          <a:p>
            <a:pPr marL="442212" lvl="1" indent="-221106" algn="l">
              <a:lnSpc>
                <a:spcPts val="2867"/>
              </a:lnSpc>
              <a:buFont typeface="Arial"/>
              <a:buChar char="•"/>
            </a:pPr>
            <a:r>
              <a:rPr lang="en-US" sz="2048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High-poverty schools (Category 2) show the lowest median scores.</a:t>
            </a:r>
          </a:p>
          <a:p>
            <a:pPr marL="442212" lvl="1" indent="-221106" algn="l">
              <a:lnSpc>
                <a:spcPts val="2867"/>
              </a:lnSpc>
              <a:buFont typeface="Arial"/>
              <a:buChar char="•"/>
            </a:pPr>
            <a:r>
              <a:rPr lang="en-US" sz="2048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The median gap between groups is approximately 300 points.</a:t>
            </a:r>
          </a:p>
          <a:p>
            <a:pPr algn="l">
              <a:lnSpc>
                <a:spcPts val="2867"/>
              </a:lnSpc>
            </a:pPr>
            <a:endParaRPr lang="en-US" sz="2048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2867"/>
              </a:lnSpc>
              <a:spcBef>
                <a:spcPct val="0"/>
              </a:spcBef>
            </a:pPr>
            <a:endParaRPr lang="en-US" sz="2048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2867"/>
              </a:lnSpc>
              <a:spcBef>
                <a:spcPct val="0"/>
              </a:spcBef>
            </a:pPr>
            <a:r>
              <a:rPr lang="en-US" sz="2048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Executive Insight</a:t>
            </a:r>
          </a:p>
          <a:p>
            <a:pPr algn="l">
              <a:lnSpc>
                <a:spcPts val="2867"/>
              </a:lnSpc>
              <a:spcBef>
                <a:spcPct val="0"/>
              </a:spcBef>
            </a:pPr>
            <a:r>
              <a:rPr lang="en-US" sz="2048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Poverty creates clear performance tiers, with students in high-poverty schools consistently scoring lower than those in low-poverty schools.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918590" y="-741057"/>
            <a:ext cx="3802877" cy="1486579"/>
          </a:xfrm>
          <a:custGeom>
            <a:avLst/>
            <a:gdLst/>
            <a:ahLst/>
            <a:cxnLst/>
            <a:rect l="l" t="t" r="r" b="b"/>
            <a:pathLst>
              <a:path w="3802877" h="1486579">
                <a:moveTo>
                  <a:pt x="0" y="0"/>
                </a:moveTo>
                <a:lnTo>
                  <a:pt x="3802877" y="0"/>
                </a:lnTo>
                <a:lnTo>
                  <a:pt x="3802877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640360" y="1632585"/>
            <a:ext cx="8217166" cy="7950808"/>
          </a:xfrm>
          <a:custGeom>
            <a:avLst/>
            <a:gdLst/>
            <a:ahLst/>
            <a:cxnLst/>
            <a:rect l="l" t="t" r="r" b="b"/>
            <a:pathLst>
              <a:path w="8217166" h="7950808">
                <a:moveTo>
                  <a:pt x="0" y="0"/>
                </a:moveTo>
                <a:lnTo>
                  <a:pt x="8217167" y="0"/>
                </a:lnTo>
                <a:lnTo>
                  <a:pt x="8217167" y="7950808"/>
                </a:lnTo>
                <a:lnTo>
                  <a:pt x="0" y="79508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562733" y="394760"/>
            <a:ext cx="13684940" cy="63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708"/>
              </a:lnSpc>
              <a:spcBef>
                <a:spcPct val="0"/>
              </a:spcBef>
            </a:pPr>
            <a:r>
              <a:rPr lang="en-US" sz="4708" spc="-37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Statistical Testing – T-Test Results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05/10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9029" y="2369466"/>
            <a:ext cx="9361332" cy="5990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6"/>
              </a:lnSpc>
              <a:spcBef>
                <a:spcPct val="0"/>
              </a:spcBef>
            </a:pPr>
            <a:r>
              <a:rPr lang="en-US" sz="229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Research Question: Does school calendar type affect academic performance?</a:t>
            </a:r>
          </a:p>
          <a:p>
            <a:pPr algn="l">
              <a:lnSpc>
                <a:spcPts val="3206"/>
              </a:lnSpc>
              <a:spcBef>
                <a:spcPct val="0"/>
              </a:spcBef>
            </a:pPr>
            <a:endParaRPr lang="en-US" sz="2290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3206"/>
              </a:lnSpc>
              <a:spcBef>
                <a:spcPct val="0"/>
              </a:spcBef>
            </a:pPr>
            <a:r>
              <a:rPr lang="en-US" sz="229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Results:</a:t>
            </a:r>
          </a:p>
          <a:p>
            <a:pPr marL="494477" lvl="1" indent="-247238" algn="l">
              <a:lnSpc>
                <a:spcPts val="3206"/>
              </a:lnSpc>
              <a:buFont typeface="Arial"/>
              <a:buChar char="•"/>
            </a:pPr>
            <a:r>
              <a:rPr lang="en-US" sz="229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Traditional Schools: Mean = 684.5</a:t>
            </a:r>
          </a:p>
          <a:p>
            <a:pPr marL="494477" lvl="1" indent="-247238" algn="l">
              <a:lnSpc>
                <a:spcPts val="3206"/>
              </a:lnSpc>
              <a:buFont typeface="Arial"/>
              <a:buChar char="•"/>
            </a:pPr>
            <a:r>
              <a:rPr lang="en-US" sz="229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Year-Round Schools: Mean = 524.0</a:t>
            </a:r>
          </a:p>
          <a:p>
            <a:pPr marL="494477" lvl="1" indent="-247238" algn="l">
              <a:lnSpc>
                <a:spcPts val="3206"/>
              </a:lnSpc>
              <a:buFont typeface="Arial"/>
              <a:buChar char="•"/>
            </a:pPr>
            <a:r>
              <a:rPr lang="en-US" sz="229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Mean Difference: 160.5 points</a:t>
            </a:r>
          </a:p>
          <a:p>
            <a:pPr marL="494477" lvl="1" indent="-247238" algn="l">
              <a:lnSpc>
                <a:spcPts val="3206"/>
              </a:lnSpc>
              <a:buFont typeface="Arial"/>
              <a:buChar char="•"/>
            </a:pPr>
            <a:r>
              <a:rPr lang="en-US" sz="229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p-value &lt; .001</a:t>
            </a:r>
          </a:p>
          <a:p>
            <a:pPr algn="l">
              <a:lnSpc>
                <a:spcPts val="3206"/>
              </a:lnSpc>
              <a:spcBef>
                <a:spcPct val="0"/>
              </a:spcBef>
            </a:pPr>
            <a:endParaRPr lang="en-US" sz="2290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3206"/>
              </a:lnSpc>
              <a:spcBef>
                <a:spcPct val="0"/>
              </a:spcBef>
            </a:pPr>
            <a:r>
              <a:rPr lang="en-US" sz="229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Executive Insight:</a:t>
            </a:r>
          </a:p>
          <a:p>
            <a:pPr algn="l">
              <a:lnSpc>
                <a:spcPts val="3206"/>
              </a:lnSpc>
              <a:spcBef>
                <a:spcPct val="0"/>
              </a:spcBef>
            </a:pPr>
            <a:endParaRPr lang="en-US" sz="2290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3206"/>
              </a:lnSpc>
              <a:spcBef>
                <a:spcPct val="0"/>
              </a:spcBef>
            </a:pPr>
            <a:r>
              <a:rPr lang="en-US" sz="229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Since p &lt; .05, the difference is statistically significant. Traditional schools outperform year-round schools by approximately 160 points, suggesting year-round schools may face greater socioeconomic and resource challenges.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746680" y="2678431"/>
            <a:ext cx="8240397" cy="5407254"/>
          </a:xfrm>
          <a:custGeom>
            <a:avLst/>
            <a:gdLst/>
            <a:ahLst/>
            <a:cxnLst/>
            <a:rect l="l" t="t" r="r" b="b"/>
            <a:pathLst>
              <a:path w="8240397" h="5407254">
                <a:moveTo>
                  <a:pt x="0" y="0"/>
                </a:moveTo>
                <a:lnTo>
                  <a:pt x="8240396" y="0"/>
                </a:lnTo>
                <a:lnTo>
                  <a:pt x="8240396" y="5407255"/>
                </a:lnTo>
                <a:lnTo>
                  <a:pt x="0" y="54072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577550" y="194310"/>
            <a:ext cx="13571147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60"/>
              </a:lnSpc>
            </a:pPr>
            <a:r>
              <a:rPr lang="en-US" sz="43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Statistical Testing – ANOVA &amp; Post-Hoc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767455"/>
            <a:ext cx="7664150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49"/>
              </a:lnSpc>
              <a:spcBef>
                <a:spcPct val="0"/>
              </a:spcBef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13547818" y="981075"/>
            <a:ext cx="37114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06/10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8564" y="1995162"/>
            <a:ext cx="9144423" cy="6666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sz="2252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The Goal: Prove that poverty levels (mealcat) create distinct "classes" of school performance.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  <a:endParaRPr lang="en-US" sz="2252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sz="2252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Detailed Interpretation:</a:t>
            </a:r>
          </a:p>
          <a:p>
            <a:pPr marL="486228" lvl="1" indent="-243114" algn="l">
              <a:lnSpc>
                <a:spcPts val="3152"/>
              </a:lnSpc>
              <a:buFont typeface="Arial"/>
              <a:buChar char="•"/>
            </a:pPr>
            <a:r>
              <a:rPr lang="en-US" sz="2252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The ANOVA: Your F-value is 611.1 with a p-value &lt; 2e-16. This tells the executives that it is virtually impossible that poverty doesn't affect scores.</a:t>
            </a:r>
          </a:p>
          <a:p>
            <a:pPr algn="l">
              <a:lnSpc>
                <a:spcPts val="3152"/>
              </a:lnSpc>
            </a:pPr>
            <a:endParaRPr lang="en-US" sz="2252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486228" lvl="1" indent="-243114" algn="l">
              <a:lnSpc>
                <a:spcPts val="3152"/>
              </a:lnSpc>
              <a:buFont typeface="Arial"/>
              <a:buChar char="•"/>
            </a:pPr>
            <a:r>
              <a:rPr lang="en-US" sz="2252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The Tukey Test: This breaks down the size of the gap.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  <a:endParaRPr lang="en-US" sz="2252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3152"/>
              </a:lnSpc>
            </a:pPr>
            <a:r>
              <a:rPr lang="en-US" sz="2252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            Category 1 vs 0: A drop of 166 points.</a:t>
            </a:r>
          </a:p>
          <a:p>
            <a:pPr algn="l">
              <a:lnSpc>
                <a:spcPts val="3152"/>
              </a:lnSpc>
            </a:pPr>
            <a:r>
              <a:rPr lang="en-US" sz="2252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            Category 2 vs 0 (High vs Low Poverty): A massive drop of 301 points.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  <a:endParaRPr lang="en-US" sz="2252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sz="2252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Executive Takeaway: Poverty isn't just a minor hurdle; it represents a 300-point performance deficit that standard teaching alone cannot bridge.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473648" y="247526"/>
            <a:ext cx="14063730" cy="583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8"/>
              </a:lnSpc>
              <a:spcBef>
                <a:spcPct val="0"/>
              </a:spcBef>
            </a:pPr>
            <a:r>
              <a:rPr lang="en-US" sz="4208" spc="-33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Modeling – Multiple Regression (The Math)</a:t>
            </a:r>
          </a:p>
        </p:txBody>
      </p:sp>
      <p:sp>
        <p:nvSpPr>
          <p:cNvPr id="6" name="Freeform 6"/>
          <p:cNvSpPr/>
          <p:nvPr/>
        </p:nvSpPr>
        <p:spPr>
          <a:xfrm>
            <a:off x="9596166" y="1832123"/>
            <a:ext cx="8302353" cy="5983012"/>
          </a:xfrm>
          <a:custGeom>
            <a:avLst/>
            <a:gdLst/>
            <a:ahLst/>
            <a:cxnLst/>
            <a:rect l="l" t="t" r="r" b="b"/>
            <a:pathLst>
              <a:path w="8302353" h="5983012">
                <a:moveTo>
                  <a:pt x="0" y="0"/>
                </a:moveTo>
                <a:lnTo>
                  <a:pt x="8302353" y="0"/>
                </a:lnTo>
                <a:lnTo>
                  <a:pt x="8302353" y="5983012"/>
                </a:lnTo>
                <a:lnTo>
                  <a:pt x="0" y="59830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07/10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3648" y="1716187"/>
            <a:ext cx="8551768" cy="6390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The Goal: Show how accurately we can predict success using multiple factors simultaneously.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endParaRPr lang="en-US" sz="22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Detailed Interpretation:</a:t>
            </a:r>
          </a:p>
          <a:p>
            <a:pPr marL="496567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The Model Fit: Point to the Multiple R-squared: 0.8485.</a:t>
            </a:r>
          </a:p>
          <a:p>
            <a:pPr algn="l">
              <a:lnSpc>
                <a:spcPts val="3219"/>
              </a:lnSpc>
            </a:pPr>
            <a:endParaRPr lang="en-US" sz="22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496567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Explanation: Tell the audience: "Our model explains 84.8% of the factors that determine a school's API score. This gives us a very reliable roadmap for policy intervention."</a:t>
            </a:r>
          </a:p>
          <a:p>
            <a:pPr algn="l">
              <a:lnSpc>
                <a:spcPts val="3219"/>
              </a:lnSpc>
            </a:pPr>
            <a:endParaRPr lang="en-US" sz="22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496567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Significance: Every variable has *** next to it, meaning every factor we chose (Poverty, Parent Ed, English Learners, Enrollment, and Credentials) is a "statistically significant" predictor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9822363" y="2241199"/>
            <a:ext cx="8214867" cy="4780824"/>
          </a:xfrm>
          <a:custGeom>
            <a:avLst/>
            <a:gdLst/>
            <a:ahLst/>
            <a:cxnLst/>
            <a:rect l="l" t="t" r="r" b="b"/>
            <a:pathLst>
              <a:path w="8214867" h="4780824">
                <a:moveTo>
                  <a:pt x="0" y="0"/>
                </a:moveTo>
                <a:lnTo>
                  <a:pt x="8214868" y="0"/>
                </a:lnTo>
                <a:lnTo>
                  <a:pt x="8214868" y="4780824"/>
                </a:lnTo>
                <a:lnTo>
                  <a:pt x="0" y="47808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453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614056" y="316313"/>
            <a:ext cx="15125283" cy="552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8"/>
              </a:lnSpc>
            </a:pPr>
            <a:r>
              <a:rPr lang="en-US" sz="4108" spc="-32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Interpreting the Predictors (Actionable Decisions)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08/10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2469" y="1844343"/>
            <a:ext cx="9184646" cy="593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Detailed Interpretation: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-This scatterplot shows the positive relationship between Parent  Education and API Scores.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-The "Levers":</a:t>
            </a: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Parent Education (avg_ed): For every 1-unit increase in the education index, API scores rise by 34.2 points.</a:t>
            </a: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Teacher Credentials (full): Every 1% increase in fully credentialed teachers adds 1.24 points to the score.</a:t>
            </a: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English Learners (ell): Every 1% increase in English learners results in a -0.46 point drop, suggesting a need for more ESL resources.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endParaRPr lang="en-US" sz="20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Executive Takeaway: We cannot easily change a student's poverty level, but we can control teacher credentialing. Investing in teacher certification is a proven, statistically backed way to raise school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028700" y="336145"/>
            <a:ext cx="13728586" cy="552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8"/>
              </a:lnSpc>
            </a:pPr>
            <a:r>
              <a:rPr lang="en-US" sz="4108" spc="-32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Strategic Tool Comparison: R Studio &amp; JASP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09/10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1934" y="1299210"/>
            <a:ext cx="13172666" cy="365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Objective: Evaluating software efficacy for educational data modeling.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827432-ACDD-9ABF-62DB-93E8CCA2C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2778479"/>
            <a:ext cx="14723821" cy="60273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43058" y="485714"/>
            <a:ext cx="12921121" cy="466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4"/>
              </a:lnSpc>
            </a:pPr>
            <a:r>
              <a:rPr lang="en-US" sz="4108" spc="-32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Conclusions &amp; Actionable Insights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10/10</a:t>
            </a:r>
          </a:p>
        </p:txBody>
      </p:sp>
      <p:sp>
        <p:nvSpPr>
          <p:cNvPr id="5" name="AutoShape 5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243058" y="1822972"/>
            <a:ext cx="15666193" cy="3709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Insights Uncovered: We moved beyond simple averages to prove that 85% of school performance is predictable based on socioeconomic and institutional factors.</a:t>
            </a:r>
          </a:p>
          <a:p>
            <a:pPr algn="l">
              <a:lnSpc>
                <a:spcPts val="2939"/>
              </a:lnSpc>
            </a:pPr>
            <a:endParaRPr lang="en-US" sz="20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Actionable Discovery: While poverty is the strongest negative predictor, Teacher Credentials (full) and Parent Education (avg_ed) provide a statistically significant path to improvement.</a:t>
            </a:r>
          </a:p>
          <a:p>
            <a:pPr algn="l">
              <a:lnSpc>
                <a:spcPts val="2939"/>
              </a:lnSpc>
            </a:pPr>
            <a:endParaRPr lang="en-US" sz="20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Final Recommendations: </a:t>
            </a:r>
          </a:p>
          <a:p>
            <a:pPr algn="l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      1. Increase funding for teacher certification in Category 2 &amp; 3 districts.</a:t>
            </a:r>
          </a:p>
          <a:p>
            <a:pPr algn="l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      2. Develop community programs focused on adult literacy and parent education. </a:t>
            </a:r>
          </a:p>
          <a:p>
            <a:pPr algn="l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      3. Re-evaluate the support structures for Year-Round schools to bridge the 160-point gap.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6819" y="7544464"/>
            <a:ext cx="16230600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"Data analytics allows us to move from 'guessing' to 'knowing,' providing a clear roadmap for educational equity in California."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3652481"/>
            <a:ext cx="12333589" cy="1118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56"/>
              </a:lnSpc>
            </a:pPr>
            <a:r>
              <a:rPr lang="en-US" sz="9944" spc="-78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</a:t>
            </a:r>
          </a:p>
        </p:txBody>
      </p:sp>
      <p:sp>
        <p:nvSpPr>
          <p:cNvPr id="4" name="AutoShape 4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866</Words>
  <Application>Microsoft Office PowerPoint</Application>
  <PresentationFormat>Custom</PresentationFormat>
  <Paragraphs>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Garet Bold</vt:lpstr>
      <vt:lpstr>Canva Sans</vt:lpstr>
      <vt:lpstr>Garet</vt:lpstr>
      <vt:lpstr>Arial</vt:lpstr>
      <vt:lpstr>Calibri</vt:lpstr>
      <vt:lpstr>Archivo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Predictors of Academic Excellence</dc:title>
  <cp:lastModifiedBy>nocore.core@gmail.com</cp:lastModifiedBy>
  <cp:revision>5</cp:revision>
  <dcterms:created xsi:type="dcterms:W3CDTF">2006-08-16T00:00:00Z</dcterms:created>
  <dcterms:modified xsi:type="dcterms:W3CDTF">2026-05-10T05:18:43Z</dcterms:modified>
  <dc:identifier>DAHJDCvwL9A</dc:identifier>
</cp:coreProperties>
</file>